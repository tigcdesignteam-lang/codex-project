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Relationship Id="rId4" Type="http://schemas.openxmlformats.org/officeDocument/2006/relationships/image" Target="../media/image43.jpg"/><Relationship Id="rId5" Type="http://schemas.openxmlformats.org/officeDocument/2006/relationships/image" Target="../media/image4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46.jpg"/><Relationship Id="rId4" Type="http://schemas.openxmlformats.org/officeDocument/2006/relationships/image" Target="../media/image47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COLLECTION EDIT /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FLAT KNIT  /  THE COMPLETE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19 styles · 37 colourways · 74 front/back torso 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3657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3100" b="1">
                <a:solidFill>
                  <a:srgbClr val="182D39"/>
                </a:solidFill>
                <a:latin typeface="Aptos"/>
              </a:defRPr>
            </a:pPr>
            <a:r>
              <a:t>Texture, proportion</a:t>
            </a:r>
          </a:p>
          <a:p>
            <a:pPr>
              <a:spcAft>
                <a:spcPts val="200"/>
              </a:spcAft>
              <a:defRPr sz="3100" b="1">
                <a:solidFill>
                  <a:srgbClr val="182D39"/>
                </a:solidFill>
                <a:latin typeface="Aptos"/>
              </a:defRPr>
            </a:pPr>
            <a:r>
              <a:t>and a shared</a:t>
            </a:r>
          </a:p>
          <a:p>
            <a:pPr>
              <a:spcAft>
                <a:spcPts val="200"/>
              </a:spcAft>
              <a:defRPr sz="3100" b="1">
                <a:solidFill>
                  <a:srgbClr val="182D39"/>
                </a:solidFill>
                <a:latin typeface="Aptos"/>
              </a:defRPr>
            </a:pPr>
            <a:r>
              <a:t>yarn palette.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14800"/>
            <a:ext cx="3337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0">
                <a:solidFill>
                  <a:srgbClr val="62716F"/>
                </a:solidFill>
                <a:latin typeface="Aptos"/>
              </a:defRPr>
            </a:pPr>
            <a:r>
              <a:t>Polos, crews and henleys.</a:t>
            </a:r>
          </a:p>
          <a:p>
            <a:pPr>
              <a:spcAft>
                <a:spcPts val="200"/>
              </a:spcAft>
              <a:defRPr sz="1500" b="0">
                <a:solidFill>
                  <a:srgbClr val="62716F"/>
                </a:solidFill>
                <a:latin typeface="Aptos"/>
              </a:defRPr>
            </a:pPr>
            <a:r>
              <a:t>Original references matched to the catalogue; colourways drawn only from the supplied thread card.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343400" y="2679680"/>
            <a:ext cx="9692640" cy="387607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4360" y="6537960"/>
            <a:ext cx="365760" cy="365760"/>
          </a:xfrm>
          <a:prstGeom prst="rect">
            <a:avLst/>
          </a:prstGeom>
          <a:solidFill>
            <a:srgbClr val="34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9848" y="6537960"/>
            <a:ext cx="365760" cy="365760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45336" y="6537960"/>
            <a:ext cx="365760" cy="365760"/>
          </a:xfrm>
          <a:prstGeom prst="rect">
            <a:avLst/>
          </a:prstGeom>
          <a:solidFill>
            <a:srgbClr val="19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20824" y="6537960"/>
            <a:ext cx="365760" cy="365760"/>
          </a:xfrm>
          <a:prstGeom prst="rect">
            <a:avLst/>
          </a:prstGeom>
          <a:solidFill>
            <a:srgbClr val="A59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96312" y="6537960"/>
            <a:ext cx="365760" cy="365760"/>
          </a:xfrm>
          <a:prstGeom prst="rect">
            <a:avLst/>
          </a:prstGeom>
          <a:solidFill>
            <a:srgbClr val="4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7178040"/>
            <a:ext cx="1261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2716F"/>
                </a:solidFill>
                <a:latin typeface="Aptos"/>
              </a:defRPr>
            </a:pPr>
            <a:r>
              <a:t>AI concept imagery · Back views inferred · Physical yarn approval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RANGE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37 colourways, one coordinated palette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Fabric grouping retained from the workbook. Two colourways per style, except ST-11: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6446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176272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82D39"/>
                </a:solidFill>
                <a:latin typeface="Aptos"/>
              </a:defRPr>
            </a:pPr>
            <a:r>
              <a:t>BAMBOO COTTON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6060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62716F"/>
                </a:solidFill>
                <a:latin typeface="Aptos"/>
              </a:defRPr>
            </a:pPr>
            <a:r>
              <a:t>ST-01 / ST-02 / ST-03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999232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B07854"/>
                </a:solidFill>
                <a:latin typeface="Aptos"/>
              </a:defRPr>
            </a:pPr>
            <a:r>
              <a:t>6 colourways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011680"/>
            <a:ext cx="6446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2176272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82D39"/>
                </a:solidFill>
                <a:latin typeface="Aptos"/>
              </a:defRPr>
            </a:pPr>
            <a:r>
              <a:t>LYOCEL COTTON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26060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62716F"/>
                </a:solidFill>
                <a:latin typeface="Aptos"/>
              </a:defRPr>
            </a:pPr>
            <a:r>
              <a:t>ST-04 / ST-05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2999232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B07854"/>
                </a:solidFill>
                <a:latin typeface="Aptos"/>
              </a:defRPr>
            </a:pPr>
            <a:r>
              <a:t>4 colourways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703320"/>
            <a:ext cx="6446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867912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82D39"/>
                </a:solidFill>
                <a:latin typeface="Aptos"/>
              </a:defRPr>
            </a:pPr>
            <a:r>
              <a:t>COTTON LINEN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29768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62716F"/>
                </a:solidFill>
                <a:latin typeface="Aptos"/>
              </a:defRPr>
            </a:pPr>
            <a:r>
              <a:t>ST-06 / ST-07 / ST-08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690872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B07854"/>
                </a:solidFill>
                <a:latin typeface="Aptos"/>
              </a:defRPr>
            </a:pPr>
            <a:r>
              <a:t>6 colourways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3703320"/>
            <a:ext cx="6446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3867912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82D39"/>
                </a:solidFill>
                <a:latin typeface="Aptos"/>
              </a:defRPr>
            </a:pPr>
            <a:r>
              <a:t>COTTON / VISCOSE / NYLON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429768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62716F"/>
                </a:solidFill>
                <a:latin typeface="Aptos"/>
              </a:defRPr>
            </a:pPr>
            <a:r>
              <a:t>ST-09 / ST-10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4690872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B07854"/>
                </a:solidFill>
                <a:latin typeface="Aptos"/>
              </a:defRPr>
            </a:pPr>
            <a:r>
              <a:t>4 colourways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394960"/>
            <a:ext cx="6446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5559552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82D39"/>
                </a:solidFill>
                <a:latin typeface="Aptos"/>
              </a:defRPr>
            </a:pPr>
            <a:r>
              <a:t>COTTON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598932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62716F"/>
                </a:solidFill>
                <a:latin typeface="Aptos"/>
              </a:defRPr>
            </a:pPr>
            <a:r>
              <a:t>ST-11 / ST-12 / ST-13 / ST-14 / ST-15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6382512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B07854"/>
                </a:solidFill>
                <a:latin typeface="Aptos"/>
              </a:defRPr>
            </a:pPr>
            <a:r>
              <a:t>9 colourways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5394960"/>
            <a:ext cx="6446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99248" y="5559552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82D39"/>
                </a:solidFill>
                <a:latin typeface="Aptos"/>
              </a:defRPr>
            </a:pPr>
            <a:r>
              <a:t>COTTON VISCOSE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9248" y="598932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62716F"/>
                </a:solidFill>
                <a:latin typeface="Aptos"/>
              </a:defRPr>
            </a:pPr>
            <a:r>
              <a:t>ST-16 / ST-17 / ST-18 / ST-19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6382512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B07854"/>
                </a:solidFill>
                <a:latin typeface="Aptos"/>
              </a:defRPr>
            </a:pPr>
            <a:r>
              <a:t>8 colourways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THREAD PALETTE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Available-yarn colour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Internal TC references identify photographed skeins; descriptive names and screen colours are approximate.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65960"/>
            <a:ext cx="493776" cy="493776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96596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82D39"/>
                </a:solidFill>
                <a:latin typeface="Aptos"/>
              </a:defRPr>
            </a:pPr>
            <a:r>
              <a:t>TC01  /  Off white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58568"/>
            <a:ext cx="5394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Lower middle row, off-white skein immediately left of white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679191"/>
            <a:ext cx="493776" cy="493776"/>
          </a:xfrm>
          <a:prstGeom prst="rect">
            <a:avLst/>
          </a:prstGeom>
          <a:solidFill>
            <a:srgbClr val="F2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679191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82D39"/>
                </a:solidFill>
                <a:latin typeface="Aptos"/>
              </a:defRPr>
            </a:pPr>
            <a:r>
              <a:t>TC02  /  White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71799"/>
            <a:ext cx="5394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Lower middle row, white skein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392424"/>
            <a:ext cx="493776" cy="493776"/>
          </a:xfrm>
          <a:prstGeom prst="rect">
            <a:avLst/>
          </a:prstGeom>
          <a:solidFill>
            <a:srgbClr val="19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39242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82D39"/>
                </a:solidFill>
                <a:latin typeface="Aptos"/>
              </a:defRPr>
            </a:pPr>
            <a:r>
              <a:t>TC03  /  Navy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685032"/>
            <a:ext cx="5394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Main upper row, second skein from right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105656"/>
            <a:ext cx="493776" cy="493776"/>
          </a:xfrm>
          <a:prstGeom prst="rect">
            <a:avLst/>
          </a:prstGeom>
          <a:solidFill>
            <a:srgbClr val="1C3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105656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82D39"/>
                </a:solidFill>
                <a:latin typeface="Aptos"/>
              </a:defRPr>
            </a:pPr>
            <a:r>
              <a:t>TC04  /  Royal blue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398264"/>
            <a:ext cx="5394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Main upper row, fourth skein from left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818888"/>
            <a:ext cx="493776" cy="493776"/>
          </a:xfrm>
          <a:prstGeom prst="rect">
            <a:avLst/>
          </a:prstGeom>
          <a:solidFill>
            <a:srgbClr val="687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818888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82D39"/>
                </a:solidFill>
                <a:latin typeface="Aptos"/>
              </a:defRPr>
            </a:pPr>
            <a:r>
              <a:t>TC05  /  Denim blue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11496"/>
            <a:ext cx="5394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Main upper row, far-right skein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5532120"/>
            <a:ext cx="493776" cy="493776"/>
          </a:xfrm>
          <a:prstGeom prst="rect">
            <a:avLst/>
          </a:prstGeom>
          <a:solidFill>
            <a:srgbClr val="34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55321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82D39"/>
                </a:solidFill>
                <a:latin typeface="Aptos"/>
              </a:defRPr>
            </a:pPr>
            <a:r>
              <a:t>TC06  /  Dark olive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824728"/>
            <a:ext cx="5394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Lower middle row, far-left skein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245352"/>
            <a:ext cx="493776" cy="493776"/>
          </a:xfrm>
          <a:prstGeom prst="rect">
            <a:avLst/>
          </a:prstGeom>
          <a:solidFill>
            <a:srgbClr val="4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6245352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82D39"/>
                </a:solidFill>
                <a:latin typeface="Aptos"/>
              </a:defRPr>
            </a:pPr>
            <a:r>
              <a:t>TC07  /  Burgundy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6537960"/>
            <a:ext cx="5394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Main lower row, deep wine skein between grey-purple and dusty pink</a:t>
            </a:r>
          </a:p>
        </p:txBody>
      </p:sp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15200" y="1977390"/>
            <a:ext cx="6675120" cy="50063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315200" y="7114032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2716F"/>
                </a:solidFill>
                <a:latin typeface="Aptos"/>
              </a:defRPr>
            </a:pPr>
            <a:r>
              <a:t>Source: IMG_8685.HEIC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THREAD PALETTE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Available-yarn colour library /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Internal TC references identify photographed skeins; descriptive names and screen colours are approximate.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65960"/>
            <a:ext cx="493776" cy="493776"/>
          </a:xfrm>
          <a:prstGeom prst="rect">
            <a:avLst/>
          </a:prstGeom>
          <a:solidFill>
            <a:srgbClr val="302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96596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82D39"/>
                </a:solidFill>
                <a:latin typeface="Aptos"/>
              </a:defRPr>
            </a:pPr>
            <a:r>
              <a:t>TC08  /  Chocolate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58568"/>
            <a:ext cx="5394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Main lower row, second skein from left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679191"/>
            <a:ext cx="493776" cy="493776"/>
          </a:xfrm>
          <a:prstGeom prst="rect">
            <a:avLst/>
          </a:prstGeom>
          <a:solidFill>
            <a:srgbClr val="A59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679191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82D39"/>
                </a:solidFill>
                <a:latin typeface="Aptos"/>
              </a:defRPr>
            </a:pPr>
            <a:r>
              <a:t>TC09  /  Taupe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71799"/>
            <a:ext cx="5394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Main upper row, fourth skein from right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392424"/>
            <a:ext cx="493776" cy="493776"/>
          </a:xfrm>
          <a:prstGeom prst="rect">
            <a:avLst/>
          </a:prstGeom>
          <a:solidFill>
            <a:srgbClr val="B18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39242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82D39"/>
                </a:solidFill>
                <a:latin typeface="Aptos"/>
              </a:defRPr>
            </a:pPr>
            <a:r>
              <a:t>TC10  /  Mustard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685032"/>
            <a:ext cx="5394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Main lower row, second skein from right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105656"/>
            <a:ext cx="493776" cy="493776"/>
          </a:xfrm>
          <a:prstGeom prst="rect">
            <a:avLst/>
          </a:prstGeom>
          <a:solidFill>
            <a:srgbClr val="AA7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105656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82D39"/>
                </a:solidFill>
                <a:latin typeface="Aptos"/>
              </a:defRPr>
            </a:pPr>
            <a:r>
              <a:t>TC11  /  Dusty pink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398264"/>
            <a:ext cx="5394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Main lower row, pink skein immediately right of burgundy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818888"/>
            <a:ext cx="493776" cy="493776"/>
          </a:xfrm>
          <a:prstGeom prst="rect">
            <a:avLst/>
          </a:prstGeom>
          <a:solidFill>
            <a:srgbClr val="A84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818888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82D39"/>
                </a:solidFill>
                <a:latin typeface="Aptos"/>
              </a:defRPr>
            </a:pPr>
            <a:r>
              <a:t>TC12  /  Rust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11496"/>
            <a:ext cx="5394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Main lower row, far-right skein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5532120"/>
            <a:ext cx="493776" cy="493776"/>
          </a:xfrm>
          <a:prstGeom prst="rect">
            <a:avLst/>
          </a:prstGeom>
          <a:solidFill>
            <a:srgbClr val="85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55321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82D39"/>
                </a:solidFill>
                <a:latin typeface="Aptos"/>
              </a:defRPr>
            </a:pPr>
            <a:r>
              <a:t>TC13  /  Medium grey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824728"/>
            <a:ext cx="5394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Main upper row, grey skein between charcoal and taupe</a:t>
            </a:r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15200" y="1977390"/>
            <a:ext cx="6675120" cy="50063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15200" y="7114032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2716F"/>
                </a:solidFill>
                <a:latin typeface="Aptos"/>
              </a:defRPr>
            </a:pPr>
            <a:r>
              <a:t>Source: IMG_8684.HEIC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ST-01 / BAMBOO COTTON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Asymmetric cable zip polo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Fine knit with vertical cable accents · Quarter zip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01  /  Olive / off white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8470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02  /  Navy / off white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94360" y="2355121"/>
            <a:ext cx="10744200" cy="42965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6129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21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823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876288"/>
            <a:ext cx="210312" cy="210312"/>
          </a:xfrm>
          <a:prstGeom prst="rect">
            <a:avLst/>
          </a:prstGeom>
          <a:solidFill>
            <a:srgbClr val="34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6876288"/>
            <a:ext cx="210312" cy="210312"/>
          </a:xfrm>
          <a:prstGeom prst="rect">
            <a:avLst/>
          </a:prstGeom>
          <a:solidFill>
            <a:srgbClr val="4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TC06 · panel: TC01 · stripe: TC07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53328" y="6876288"/>
            <a:ext cx="210312" cy="210312"/>
          </a:xfrm>
          <a:prstGeom prst="rect">
            <a:avLst/>
          </a:prstGeom>
          <a:solidFill>
            <a:srgbClr val="19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7648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01968" y="6876288"/>
            <a:ext cx="210312" cy="210312"/>
          </a:xfrm>
          <a:prstGeom prst="rect">
            <a:avLst/>
          </a:prstGeom>
          <a:solidFill>
            <a:srgbClr val="A59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TC03 · panel: TC01 · stripe: TC09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567160" y="1847088"/>
            <a:ext cx="13716" cy="5596128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95760" y="186537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FULL REFERENCE</a:t>
            </a:r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795760" y="2468880"/>
            <a:ext cx="2331720" cy="31089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795760" y="5879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82D39"/>
                </a:solidFill>
                <a:latin typeface="Aptos"/>
              </a:defRPr>
            </a:pPr>
            <a:r>
              <a:t>IMG_8757.jpg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95760" y="627278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Match: 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95760" y="662940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Construction retained from the full garment reference.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7498079"/>
            <a:ext cx="10744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* Back views are inferred design proposals. Yarn shades, stitch details and fit require physical approval.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ST-02 / BAMBOO COTTON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Diamond textured open-neck polo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Large elongated diamond knit · Open V placket; no buttons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01  /  Taupe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8470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02  /  Denim blue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31620" y="2286000"/>
            <a:ext cx="8869680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6129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21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823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876288"/>
            <a:ext cx="210312" cy="210312"/>
          </a:xfrm>
          <a:prstGeom prst="rect">
            <a:avLst/>
          </a:prstGeom>
          <a:solidFill>
            <a:srgbClr val="A59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6876288"/>
            <a:ext cx="210312" cy="210312"/>
          </a:xfrm>
          <a:prstGeom prst="rect">
            <a:avLst/>
          </a:prstGeom>
          <a:solidFill>
            <a:srgbClr val="687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53328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567160" y="1847088"/>
            <a:ext cx="13716" cy="5596128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0" y="186537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FULL REFERENCE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795760" y="2468880"/>
            <a:ext cx="2331720" cy="31089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795760" y="5879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82D39"/>
                </a:solidFill>
                <a:latin typeface="Aptos"/>
              </a:defRPr>
            </a:pPr>
            <a:r>
              <a:t>IMG_8759.jpg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60" y="627278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Match: 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95760" y="662940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Full photo confirms open neck rather than button placket.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7498079"/>
            <a:ext cx="10744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* Back views are inferred design proposals. Yarn shades, stitch details and fit require physical approval.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ST-03 / BAMBOO COTTON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Floral pointelle crew 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Tonal floral pointelle / openwork · Crew 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01  /  Off white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8470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02  /  Dusty pink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31620" y="2286000"/>
            <a:ext cx="8869680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6129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21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823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6876288"/>
            <a:ext cx="210312" cy="210312"/>
          </a:xfrm>
          <a:prstGeom prst="rect">
            <a:avLst/>
          </a:prstGeom>
          <a:solidFill>
            <a:srgbClr val="AA7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53328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567160" y="1847088"/>
            <a:ext cx="13716" cy="5596128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0" y="186537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FULL REFERENCE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795760" y="2468880"/>
            <a:ext cx="2331720" cy="31089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795760" y="5879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82D39"/>
                </a:solidFill>
                <a:latin typeface="Aptos"/>
              </a:defRPr>
            </a:pPr>
            <a:r>
              <a:t>IMG_8735.jpg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60" y="627278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Match: Medium-high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95760" y="662940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Full ivory pointelle tee is closest match to original ST-03 floral reference; subtle tonal motif is difficult to read in original.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7498079"/>
            <a:ext cx="10744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* Back views are inferred design proposals. Yarn shades, stitch details and fit require physical approval.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ST-04 / LYOCEL COTTON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Contrast piping knit polo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Fine textured knit · Button placket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01  /  Rust / off white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8470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02  /  Navy / off white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94360" y="2488882"/>
            <a:ext cx="10744200" cy="402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6129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21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823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876288"/>
            <a:ext cx="210312" cy="210312"/>
          </a:xfrm>
          <a:prstGeom prst="rect">
            <a:avLst/>
          </a:prstGeom>
          <a:solidFill>
            <a:srgbClr val="A84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TC12 · piping: TC01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53328" y="6876288"/>
            <a:ext cx="210312" cy="210312"/>
          </a:xfrm>
          <a:prstGeom prst="rect">
            <a:avLst/>
          </a:prstGeom>
          <a:solidFill>
            <a:srgbClr val="19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7648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8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TC03 · piping: TC01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567160" y="1847088"/>
            <a:ext cx="13716" cy="5596128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95760" y="186537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FULL REFERENCE</a:t>
            </a:r>
          </a:p>
        </p:txBody>
      </p:sp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795760" y="2468880"/>
            <a:ext cx="2331720" cy="31089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795760" y="5879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82D39"/>
                </a:solidFill>
                <a:latin typeface="Aptos"/>
              </a:defRPr>
            </a:pPr>
            <a:r>
              <a:t>IMG_8754.jpg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95760" y="627278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Match: 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95760" y="662940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Construction retained from the full garment reference.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7498079"/>
            <a:ext cx="10744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* Back views are inferred design proposals. Yarn shades, stitch details and fit require physical approval.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ST-05 / LYOCEL COTTON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Open-knit striped-placket polo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Vertical herringbone / pointelle channels · Button placket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01  /  Off white / chocolate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8470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02  /  Taupe / navy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31620" y="2286000"/>
            <a:ext cx="8869680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6129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21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823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6876288"/>
            <a:ext cx="210312" cy="210312"/>
          </a:xfrm>
          <a:prstGeom prst="rect">
            <a:avLst/>
          </a:prstGeom>
          <a:solidFill>
            <a:srgbClr val="302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TC01 · trim: TC08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53328" y="6876288"/>
            <a:ext cx="210312" cy="210312"/>
          </a:xfrm>
          <a:prstGeom prst="rect">
            <a:avLst/>
          </a:prstGeom>
          <a:solidFill>
            <a:srgbClr val="A59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7648" y="6876288"/>
            <a:ext cx="210312" cy="210312"/>
          </a:xfrm>
          <a:prstGeom prst="rect">
            <a:avLst/>
          </a:prstGeom>
          <a:solidFill>
            <a:srgbClr val="19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8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TC09 · trim: TC03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567160" y="1847088"/>
            <a:ext cx="13716" cy="5596128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95760" y="186537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FULL REFERENCE</a:t>
            </a:r>
          </a:p>
        </p:txBody>
      </p:sp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795760" y="2468880"/>
            <a:ext cx="2331720" cy="31089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795760" y="5879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82D39"/>
                </a:solidFill>
                <a:latin typeface="Aptos"/>
              </a:defRPr>
            </a:pPr>
            <a:r>
              <a:t>IMG_8753.jpg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95760" y="627278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Match: 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95760" y="662940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Construction retained from the full garment reference.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7498079"/>
            <a:ext cx="10744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* Back views are inferred design proposals. Yarn shades, stitch details and fit require physical approval.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ST-06 / COTTON LINEN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Five-button knit henley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Plain fine knit · Five-button henley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01  /  Mustard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8470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02  /  Dark olive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31620" y="2286000"/>
            <a:ext cx="8869680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6129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21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823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876288"/>
            <a:ext cx="210312" cy="210312"/>
          </a:xfrm>
          <a:prstGeom prst="rect">
            <a:avLst/>
          </a:prstGeom>
          <a:solidFill>
            <a:srgbClr val="B18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6876288"/>
            <a:ext cx="210312" cy="210312"/>
          </a:xfrm>
          <a:prstGeom prst="rect">
            <a:avLst/>
          </a:prstGeom>
          <a:solidFill>
            <a:srgbClr val="34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53328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567160" y="1847088"/>
            <a:ext cx="13716" cy="5596128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0" y="186537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FULL REFERENCE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795760" y="2468880"/>
            <a:ext cx="2331720" cy="31089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795760" y="5879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82D39"/>
                </a:solidFill>
                <a:latin typeface="Aptos"/>
              </a:defRPr>
            </a:pPr>
            <a:r>
              <a:t>IMG_8740.jpg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60" y="627278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Match: 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95760" y="662940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Construction retained from the full garment reference.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7498079"/>
            <a:ext cx="10744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* Back views are inferred design proposals. Yarn shades, stitch details and fit require physical approval.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ST-07 / COTTON LINEN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Chest-block open-neck polo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Textured chest block on fine knit · Open V placket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01  /  Off white / denim / navy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8470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02  /  Off white / taupe / chocolate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31620" y="2286000"/>
            <a:ext cx="8869680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6129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21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823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6876288"/>
            <a:ext cx="210312" cy="210312"/>
          </a:xfrm>
          <a:prstGeom prst="rect">
            <a:avLst/>
          </a:prstGeom>
          <a:solidFill>
            <a:srgbClr val="687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6876288"/>
            <a:ext cx="210312" cy="210312"/>
          </a:xfrm>
          <a:prstGeom prst="rect">
            <a:avLst/>
          </a:prstGeom>
          <a:solidFill>
            <a:srgbClr val="19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TC01 · panel: TC05 · piping: TC03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53328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7648" y="6876288"/>
            <a:ext cx="210312" cy="210312"/>
          </a:xfrm>
          <a:prstGeom prst="rect">
            <a:avLst/>
          </a:prstGeom>
          <a:solidFill>
            <a:srgbClr val="A59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01968" y="6876288"/>
            <a:ext cx="210312" cy="210312"/>
          </a:xfrm>
          <a:prstGeom prst="rect">
            <a:avLst/>
          </a:prstGeom>
          <a:solidFill>
            <a:srgbClr val="302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TC01 · panel: TC09 · piping: TC08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567160" y="1847088"/>
            <a:ext cx="13716" cy="5596128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95760" y="186537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FULL REFERENCE</a:t>
            </a:r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795760" y="2468880"/>
            <a:ext cx="2331720" cy="31089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795760" y="5879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82D39"/>
                </a:solidFill>
                <a:latin typeface="Aptos"/>
              </a:defRPr>
            </a:pPr>
            <a:r>
              <a:t>IMG_8741.jpg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95760" y="627278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Match: 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95760" y="662940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Construction retained from the full garment reference.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7498079"/>
            <a:ext cx="10744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* Back views are inferred design proposals. Yarn shades, stitch details and fit require physical approval.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ST-08 / COTTON LINEN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Essential fine-knit crew 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Plain fine knit · Crew 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01  /  Off white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8470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02  /  Denim blue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31620" y="2286000"/>
            <a:ext cx="8869680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6129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21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823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6876288"/>
            <a:ext cx="210312" cy="210312"/>
          </a:xfrm>
          <a:prstGeom prst="rect">
            <a:avLst/>
          </a:prstGeom>
          <a:solidFill>
            <a:srgbClr val="687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53328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567160" y="1847088"/>
            <a:ext cx="13716" cy="5596128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0" y="186537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FULL REFERENCE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795760" y="2468880"/>
            <a:ext cx="2331720" cy="31089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795760" y="5879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82D39"/>
                </a:solidFill>
                <a:latin typeface="Aptos"/>
              </a:defRPr>
            </a:pPr>
            <a:r>
              <a:t>IMG_8739.jpg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60" y="627278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Match: 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95760" y="662940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Small tonal emblem appears on chest in full photograph; original description said sleeve.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7498079"/>
            <a:ext cx="10744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* Back views are inferred design proposals. Yarn shades, stitch details and fit require physical approval.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ST-09 / COTTON VISCOSE NYLON (40/40/20)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Tipped fine-knit polo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Plain textured fine knit · Button placket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01  /  Chocolate / off white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8470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02  /  Dark olive / off white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94360" y="2712720"/>
            <a:ext cx="10744200" cy="3581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6129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21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823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876288"/>
            <a:ext cx="210312" cy="210312"/>
          </a:xfrm>
          <a:prstGeom prst="rect">
            <a:avLst/>
          </a:prstGeom>
          <a:solidFill>
            <a:srgbClr val="302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TC08 · tipping: TC01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53328" y="6876288"/>
            <a:ext cx="210312" cy="210312"/>
          </a:xfrm>
          <a:prstGeom prst="rect">
            <a:avLst/>
          </a:prstGeom>
          <a:solidFill>
            <a:srgbClr val="34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7648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8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TC06 · tipping: TC01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567160" y="1847088"/>
            <a:ext cx="13716" cy="5596128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95760" y="186537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FULL REFERENCE</a:t>
            </a:r>
          </a:p>
        </p:txBody>
      </p:sp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795760" y="2468880"/>
            <a:ext cx="2331720" cy="31089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795760" y="5879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82D39"/>
                </a:solidFill>
                <a:latin typeface="Aptos"/>
              </a:defRPr>
            </a:pPr>
            <a:r>
              <a:t>IMG_8743.jpg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95760" y="627278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Match: 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95760" y="662940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Construction retained from the full garment reference.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7498079"/>
            <a:ext cx="10744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* Back views are inferred design proposals. Yarn shades, stitch details and fit require physical approval.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ST-10 / COTTON VISCOSE NYLON (40/40/20)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Breton stripe long-sleeve crew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Even narrow horizontal stripe · Crew 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01  /  Royal blue / off white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8470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02  /  Chocolate / off white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31620" y="2286000"/>
            <a:ext cx="8869680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6129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21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823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876288"/>
            <a:ext cx="210312" cy="210312"/>
          </a:xfrm>
          <a:prstGeom prst="rect">
            <a:avLst/>
          </a:prstGeom>
          <a:solidFill>
            <a:srgbClr val="1C3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TC04 · stripe: TC01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53328" y="6876288"/>
            <a:ext cx="210312" cy="210312"/>
          </a:xfrm>
          <a:prstGeom prst="rect">
            <a:avLst/>
          </a:prstGeom>
          <a:solidFill>
            <a:srgbClr val="302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7648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8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TC08 · stripe: TC01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567160" y="1847088"/>
            <a:ext cx="13716" cy="5596128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95760" y="186537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FULL REFERENCE</a:t>
            </a:r>
          </a:p>
        </p:txBody>
      </p:sp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795760" y="2468880"/>
            <a:ext cx="2331720" cy="31089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795760" y="5879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82D39"/>
                </a:solidFill>
                <a:latin typeface="Aptos"/>
              </a:defRPr>
            </a:pPr>
            <a:r>
              <a:t>IMG_8750.jpg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95760" y="627278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Match: 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95760" y="662940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Full IMG_8750 photograph confirms long sleeves; original cropped workbook reference did not show sleeve length clearly.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7498079"/>
            <a:ext cx="10744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* Back views are inferred design proposals. Yarn shades, stitch details and fit require physical approval.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ST-11 / COTTON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Athletic mesh graphic 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Open mesh with distressed chest graphic · Crew 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01  /  Off white / burgundy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26080" y="2552700"/>
            <a:ext cx="5852160" cy="3901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71800" y="2103120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103120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6876288"/>
            <a:ext cx="210312" cy="210312"/>
          </a:xfrm>
          <a:prstGeom prst="rect">
            <a:avLst/>
          </a:prstGeom>
          <a:solidFill>
            <a:srgbClr val="4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TC01 · graphic: TC07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567160" y="1847088"/>
            <a:ext cx="13716" cy="5596128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95760" y="186537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FULL REFERENCE</a:t>
            </a:r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795760" y="2468880"/>
            <a:ext cx="2331720" cy="31089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795760" y="5879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82D39"/>
                </a:solidFill>
                <a:latin typeface="Aptos"/>
              </a:defRPr>
            </a:pPr>
            <a:r>
              <a:t>IMG_8749.jpg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95760" y="627278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Match: Provisional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95760" y="662940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New full photo is a mesh tee without visible Athletic Club graphic and may show reverse or a related sample. Render follows original workbook graphic; match is provisional.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7498079"/>
            <a:ext cx="10744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* Back views are inferred design proposals. Yarn shades, stitch details and fit require physical approval.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ST-12 / COTTON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Vertical pinstripe zip polo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Fine spaced vertical pinstripes · Quarter zip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01  /  White / navy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8470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02  /  Off white / chocolate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94360" y="2352952"/>
            <a:ext cx="10744200" cy="43009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6129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21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823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876288"/>
            <a:ext cx="210312" cy="210312"/>
          </a:xfrm>
          <a:prstGeom prst="rect">
            <a:avLst/>
          </a:prstGeom>
          <a:solidFill>
            <a:srgbClr val="F2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6876288"/>
            <a:ext cx="210312" cy="210312"/>
          </a:xfrm>
          <a:prstGeom prst="rect">
            <a:avLst/>
          </a:prstGeom>
          <a:solidFill>
            <a:srgbClr val="19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TC02 · stripe: TC03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53328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7648" y="6876288"/>
            <a:ext cx="210312" cy="210312"/>
          </a:xfrm>
          <a:prstGeom prst="rect">
            <a:avLst/>
          </a:prstGeom>
          <a:solidFill>
            <a:srgbClr val="302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8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TC01 · stripe: TC08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567160" y="1847088"/>
            <a:ext cx="13716" cy="5596128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95760" y="186537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FULL REFERENCE</a:t>
            </a:r>
          </a:p>
        </p:txBody>
      </p:sp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795760" y="2468880"/>
            <a:ext cx="2331720" cy="31089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795760" y="5879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82D39"/>
                </a:solidFill>
                <a:latin typeface="Aptos"/>
              </a:defRPr>
            </a:pPr>
            <a:r>
              <a:t>IMG_8760.jpg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95760" y="627278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Match: 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95760" y="662940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Construction retained from the full garment reference.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7498079"/>
            <a:ext cx="10744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* Back views are inferred design proposals. Yarn shades, stitch details and fit require physical approval.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ST-13 / COTTON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Contrast zip stag polo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Plain fine knit · Quarter zip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01  /  Off white / chocolate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8470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02  /  Taupe / navy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31620" y="2286000"/>
            <a:ext cx="8869680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6129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21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823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6876288"/>
            <a:ext cx="210312" cy="210312"/>
          </a:xfrm>
          <a:prstGeom prst="rect">
            <a:avLst/>
          </a:prstGeom>
          <a:solidFill>
            <a:srgbClr val="302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TC01 · trim: TC08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53328" y="6876288"/>
            <a:ext cx="210312" cy="210312"/>
          </a:xfrm>
          <a:prstGeom prst="rect">
            <a:avLst/>
          </a:prstGeom>
          <a:solidFill>
            <a:srgbClr val="A59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7648" y="6876288"/>
            <a:ext cx="210312" cy="210312"/>
          </a:xfrm>
          <a:prstGeom prst="rect">
            <a:avLst/>
          </a:prstGeom>
          <a:solidFill>
            <a:srgbClr val="19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8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TC09 · trim: TC03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567160" y="1847088"/>
            <a:ext cx="13716" cy="5596128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95760" y="186537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FULL REFERENCE</a:t>
            </a:r>
          </a:p>
        </p:txBody>
      </p:sp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795760" y="2468880"/>
            <a:ext cx="2331720" cy="31089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795760" y="5879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82D39"/>
                </a:solidFill>
                <a:latin typeface="Aptos"/>
              </a:defRPr>
            </a:pPr>
            <a:r>
              <a:t>IMG_8745.jpg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95760" y="627278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Match: 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95760" y="662940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Full photo confirms geometric stag-head chest embroidery.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7498079"/>
            <a:ext cx="10744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* Back views are inferred design proposals. Yarn shades, stitch details and fit require physical approval.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ST-14 / COTTON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Mesh chest-stripe zip polo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Open mesh with horizontal band · Quarter zip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01  /  Off white / navy / denim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8470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02  /  Off white / olive / taupe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31620" y="2286000"/>
            <a:ext cx="8869680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6129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21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823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6876288"/>
            <a:ext cx="210312" cy="210312"/>
          </a:xfrm>
          <a:prstGeom prst="rect">
            <a:avLst/>
          </a:prstGeom>
          <a:solidFill>
            <a:srgbClr val="19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6876288"/>
            <a:ext cx="210312" cy="210312"/>
          </a:xfrm>
          <a:prstGeom prst="rect">
            <a:avLst/>
          </a:prstGeom>
          <a:solidFill>
            <a:srgbClr val="687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TC01 · band: TC03 · stripe: TC05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53328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7648" y="6876288"/>
            <a:ext cx="210312" cy="210312"/>
          </a:xfrm>
          <a:prstGeom prst="rect">
            <a:avLst/>
          </a:prstGeom>
          <a:solidFill>
            <a:srgbClr val="34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01968" y="6876288"/>
            <a:ext cx="210312" cy="210312"/>
          </a:xfrm>
          <a:prstGeom prst="rect">
            <a:avLst/>
          </a:prstGeom>
          <a:solidFill>
            <a:srgbClr val="A59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TC01 · band: TC06 · stripe: TC09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567160" y="1847088"/>
            <a:ext cx="13716" cy="5596128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95760" y="186537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FULL REFERENCE</a:t>
            </a:r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795760" y="2468880"/>
            <a:ext cx="2331720" cy="31089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795760" y="5879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82D39"/>
                </a:solidFill>
                <a:latin typeface="Aptos"/>
              </a:defRPr>
            </a:pPr>
            <a:r>
              <a:t>IMG_8755.jpg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95760" y="627278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Match: 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95760" y="662940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Construction retained from the full garment reference.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7498079"/>
            <a:ext cx="10744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* Back views are inferred design proposals. Yarn shades, stitch details and fit require physical approval.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ST-15 / COTTON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Three-band waffle polo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Waffle knit, broad colour blocks · Button placket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01  /  Off white / navy / chocolate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8470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02  /  Off white / olive / taupe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31620" y="2286000"/>
            <a:ext cx="8869680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6129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21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823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6876288"/>
            <a:ext cx="210312" cy="210312"/>
          </a:xfrm>
          <a:prstGeom prst="rect">
            <a:avLst/>
          </a:prstGeom>
          <a:solidFill>
            <a:srgbClr val="19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6876288"/>
            <a:ext cx="210312" cy="210312"/>
          </a:xfrm>
          <a:prstGeom prst="rect">
            <a:avLst/>
          </a:prstGeom>
          <a:solidFill>
            <a:srgbClr val="302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TC01 · chest: TC03 · lower band: TC08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53328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7648" y="6876288"/>
            <a:ext cx="210312" cy="210312"/>
          </a:xfrm>
          <a:prstGeom prst="rect">
            <a:avLst/>
          </a:prstGeom>
          <a:solidFill>
            <a:srgbClr val="34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01968" y="6876288"/>
            <a:ext cx="210312" cy="210312"/>
          </a:xfrm>
          <a:prstGeom prst="rect">
            <a:avLst/>
          </a:prstGeom>
          <a:solidFill>
            <a:srgbClr val="A59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TC01 · chest: TC06 · lower band: TC09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567160" y="1847088"/>
            <a:ext cx="13716" cy="5596128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95760" y="186537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FULL REFERENCE</a:t>
            </a:r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795760" y="2468880"/>
            <a:ext cx="2331720" cy="31089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795760" y="5879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82D39"/>
                </a:solidFill>
                <a:latin typeface="Aptos"/>
              </a:defRPr>
            </a:pPr>
            <a:r>
              <a:t>IMG_8747.jpg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95760" y="627278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Match: 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95760" y="662940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Full photo reveals additional chocolate lower band missing from workbook description.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7498079"/>
            <a:ext cx="10744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* Back views are inferred design proposals. Yarn shades, stitch details and fit require physical approval.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ST-16 / COTTON VISCOSE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Fine stripe open-neck polo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Fine horizontal stripe · Open V placket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01  /  Navy / off white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8470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02  /  Taupe / off white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31620" y="2286000"/>
            <a:ext cx="8869680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6129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21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823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876288"/>
            <a:ext cx="210312" cy="210312"/>
          </a:xfrm>
          <a:prstGeom prst="rect">
            <a:avLst/>
          </a:prstGeom>
          <a:solidFill>
            <a:srgbClr val="19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TC03 · stripe: TC01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53328" y="6876288"/>
            <a:ext cx="210312" cy="210312"/>
          </a:xfrm>
          <a:prstGeom prst="rect">
            <a:avLst/>
          </a:prstGeom>
          <a:solidFill>
            <a:srgbClr val="A59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7648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8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TC09 · stripe: TC01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567160" y="1847088"/>
            <a:ext cx="13716" cy="5596128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95760" y="186537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FULL REFERENCE</a:t>
            </a:r>
          </a:p>
        </p:txBody>
      </p:sp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795760" y="2468880"/>
            <a:ext cx="2331720" cy="31089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795760" y="5879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82D39"/>
                </a:solidFill>
                <a:latin typeface="Aptos"/>
              </a:defRPr>
            </a:pPr>
            <a:r>
              <a:t>IMG_8756.jpg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95760" y="627278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Match: 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95760" y="662940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ST-16 second row uses taupe/off white, matching workbook beige/white intent.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7498079"/>
            <a:ext cx="10744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* Back views are inferred design proposals. Yarn shades, stitch details and fit require physical approval.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ST-17 / COTTON VISCOSE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Botanical rib resort polo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Textured vertical rib knit · Open V placket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01  /  Off white botanical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8470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02  /  Dark olive botanical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31620" y="2286000"/>
            <a:ext cx="8869680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6129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21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823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6876288"/>
            <a:ext cx="210312" cy="210312"/>
          </a:xfrm>
          <a:prstGeom prst="rect">
            <a:avLst/>
          </a:prstGeom>
          <a:solidFill>
            <a:srgbClr val="302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6876288"/>
            <a:ext cx="210312" cy="210312"/>
          </a:xfrm>
          <a:prstGeom prst="rect">
            <a:avLst/>
          </a:prstGeom>
          <a:solidFill>
            <a:srgbClr val="B18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17320" y="6876288"/>
            <a:ext cx="210312" cy="210312"/>
          </a:xfrm>
          <a:prstGeom prst="rect">
            <a:avLst/>
          </a:prstGeom>
          <a:solidFill>
            <a:srgbClr val="34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TC01 · stems: TC08 · flowers: TC10 · leaves: TC06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328" y="6876288"/>
            <a:ext cx="210312" cy="210312"/>
          </a:xfrm>
          <a:prstGeom prst="rect">
            <a:avLst/>
          </a:prstGeom>
          <a:solidFill>
            <a:srgbClr val="34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27648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01968" y="6876288"/>
            <a:ext cx="210312" cy="210312"/>
          </a:xfrm>
          <a:prstGeom prst="rect">
            <a:avLst/>
          </a:prstGeom>
          <a:solidFill>
            <a:srgbClr val="B18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53328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TC06 · stems: TC01 · flowers: TC10 · leaves: TC01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567160" y="1847088"/>
            <a:ext cx="13716" cy="5596128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5760" y="186537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FULL REFERENCE</a:t>
            </a:r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795760" y="2468880"/>
            <a:ext cx="2331720" cy="31089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795760" y="5879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82D39"/>
                </a:solidFill>
                <a:latin typeface="Aptos"/>
              </a:defRPr>
            </a:pPr>
            <a:r>
              <a:t>IMG_8746.jpg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95760" y="627278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Match: 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95760" y="662940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Construction retained from the full garment reference.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7498079"/>
            <a:ext cx="10744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* Back views are inferred design proposals. Yarn shades, stitch details and fit require physical approval.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ST-18 / COTTON VISCOSE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Pointelle tipped knit polo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Vertical pointelle / eyelet channels · Button placket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01  /  Off white / navy / 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8470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02  /  Taupe / chocolate / off white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31620" y="2286000"/>
            <a:ext cx="8869680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6129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21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823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6876288"/>
            <a:ext cx="210312" cy="210312"/>
          </a:xfrm>
          <a:prstGeom prst="rect">
            <a:avLst/>
          </a:prstGeom>
          <a:solidFill>
            <a:srgbClr val="19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6876288"/>
            <a:ext cx="210312" cy="210312"/>
          </a:xfrm>
          <a:prstGeom prst="rect">
            <a:avLst/>
          </a:prstGeom>
          <a:solidFill>
            <a:srgbClr val="A84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TC01 · stripe 1: TC03 · stripe 2: TC12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53328" y="6876288"/>
            <a:ext cx="210312" cy="210312"/>
          </a:xfrm>
          <a:prstGeom prst="rect">
            <a:avLst/>
          </a:prstGeom>
          <a:solidFill>
            <a:srgbClr val="A59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7648" y="6876288"/>
            <a:ext cx="210312" cy="210312"/>
          </a:xfrm>
          <a:prstGeom prst="rect">
            <a:avLst/>
          </a:prstGeom>
          <a:solidFill>
            <a:srgbClr val="302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01968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TC09 · stripe 1: TC08 · stripe 2: TC01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567160" y="1847088"/>
            <a:ext cx="13716" cy="5596128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95760" y="186537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FULL REFERENCE</a:t>
            </a:r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795760" y="2468880"/>
            <a:ext cx="2331720" cy="31089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795760" y="5879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82D39"/>
                </a:solidFill>
                <a:latin typeface="Aptos"/>
              </a:defRPr>
            </a:pPr>
            <a:r>
              <a:t>IMG_8744.jpg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95760" y="627278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Match: 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95760" y="662940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Construction retained from the full garment reference.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7498079"/>
            <a:ext cx="10744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* Back views are inferred design proposals. Yarn shades, stitch details and fit require physical approval.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ST-19 / COTTON VISCOSE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Raglan micro-stripe crew 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Fine broken horizontal stripes, chevron raglan shoulders · Crew 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01  /  Burgundy / off white / dusty pink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8470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D39"/>
                </a:solidFill>
                <a:latin typeface="Aptos"/>
              </a:defRPr>
            </a:pPr>
            <a:r>
              <a:t>02  /  Navy / off white / denim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31620" y="2286000"/>
            <a:ext cx="8869680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6129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218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8230" y="2103120"/>
            <a:ext cx="259461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2716F"/>
                </a:solidFill>
                <a:latin typeface="Aptos"/>
              </a:defRPr>
            </a:pPr>
            <a:r>
              <a:t>BACK*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876288"/>
            <a:ext cx="210312" cy="210312"/>
          </a:xfrm>
          <a:prstGeom prst="rect">
            <a:avLst/>
          </a:prstGeom>
          <a:solidFill>
            <a:srgbClr val="42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6876288"/>
            <a:ext cx="210312" cy="210312"/>
          </a:xfrm>
          <a:prstGeom prst="rect">
            <a:avLst/>
          </a:prstGeom>
          <a:solidFill>
            <a:srgbClr val="AA7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TC07 · stripe 1: TC01 · stripe 2: TC11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53328" y="6876288"/>
            <a:ext cx="210312" cy="210312"/>
          </a:xfrm>
          <a:prstGeom prst="rect">
            <a:avLst/>
          </a:prstGeom>
          <a:solidFill>
            <a:srgbClr val="19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7648" y="6876288"/>
            <a:ext cx="210312" cy="210312"/>
          </a:xfrm>
          <a:prstGeom prst="rect">
            <a:avLst/>
          </a:prstGeom>
          <a:solidFill>
            <a:srgbClr val="E5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01968" y="6876288"/>
            <a:ext cx="210312" cy="210312"/>
          </a:xfrm>
          <a:prstGeom prst="rect">
            <a:avLst/>
          </a:prstGeom>
          <a:solidFill>
            <a:srgbClr val="687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718718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body: TC03 · stripe 1: TC01 · stripe 2: TC05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567160" y="1847088"/>
            <a:ext cx="13716" cy="5596128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95760" y="186537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FULL REFERENCE</a:t>
            </a:r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795760" y="2468880"/>
            <a:ext cx="2331720" cy="31089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795760" y="5879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82D39"/>
                </a:solidFill>
                <a:latin typeface="Aptos"/>
              </a:defRPr>
            </a:pPr>
            <a:r>
              <a:t>IMG_8752.jpg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95760" y="627278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07854"/>
                </a:solidFill>
                <a:latin typeface="Aptos"/>
              </a:defRPr>
            </a:pPr>
            <a:r>
              <a:t>Match: 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95760" y="6629400"/>
            <a:ext cx="2331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Corrected from polo/pinstripe in original workbook to crew-neck raglan striped tee, based on full photo.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7498079"/>
            <a:ext cx="10744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* Back views are inferred design proposals. Yarn shades, stitch details and fit require physical approval.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ADDITIONAL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Uploaded samples outside the mapped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Retained for reference; these seven garments are not added to the confirmed 37 colourways.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24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94360" y="1950720"/>
            <a:ext cx="2971800" cy="39623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09904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82D39"/>
                </a:solidFill>
                <a:latin typeface="Aptos"/>
              </a:defRPr>
            </a:pPr>
            <a:r>
              <a:t>IMG_8736.HEIC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28816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Plain white knit crew tee; not assigned to a second style without evidence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69080" y="1950720"/>
            <a:ext cx="2971800" cy="39623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69080" y="609904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82D39"/>
                </a:solidFill>
                <a:latin typeface="Aptos"/>
              </a:defRPr>
            </a:pPr>
            <a:r>
              <a:t>IMG_8737.HEIC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6528816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Taupe waffle polo; additional silhouette, not ST-09 tipped polo</a:t>
            </a:r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543800" y="1950720"/>
            <a:ext cx="2971800" cy="39623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43800" y="609904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82D39"/>
                </a:solidFill>
                <a:latin typeface="Aptos"/>
              </a:defRPr>
            </a:pPr>
            <a:r>
              <a:t>IMG_8738.HEIC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6528816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Red quarter-zip waffle polo; additional silhouette</a:t>
            </a:r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018519" y="1950720"/>
            <a:ext cx="2971800" cy="396239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018519" y="609904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82D39"/>
                </a:solidFill>
                <a:latin typeface="Aptos"/>
              </a:defRPr>
            </a:pPr>
            <a:r>
              <a:t>IMG_8742.HEIC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19" y="6528816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Denim-blue polo with off-white collar and placket; additional silhouette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ADDITIONAL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Uploaded samples outside the mapped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Retained for reference; these seven garments are not added to the confirmed 37 colourways.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25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94360" y="1950720"/>
            <a:ext cx="2971800" cy="39623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09904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82D39"/>
                </a:solidFill>
                <a:latin typeface="Aptos"/>
              </a:defRPr>
            </a:pPr>
            <a:r>
              <a:t>IMG_8748.HEIC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28816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Grey large-diamond crew tee; additional silhouette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69080" y="1950720"/>
            <a:ext cx="2971800" cy="39623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69080" y="609904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82D39"/>
                </a:solidFill>
                <a:latin typeface="Aptos"/>
              </a:defRPr>
            </a:pPr>
            <a:r>
              <a:t>IMG_8751.HEIC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6528816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Plain beige crew tee; possible essential tee alternative, not a unique catalogue style</a:t>
            </a:r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543800" y="1950720"/>
            <a:ext cx="2971800" cy="39623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43800" y="609904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82D39"/>
                </a:solidFill>
                <a:latin typeface="Aptos"/>
              </a:defRPr>
            </a:pPr>
            <a:r>
              <a:t>IMG_8758.HEIC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6528816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Black/off-white multi-stripe crew tee; differs from ST-10 even Breton stripe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362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B07854"/>
                </a:solidFill>
                <a:latin typeface="Aptos"/>
              </a:defRPr>
            </a:pPr>
            <a:r>
              <a:t>REVIEW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36245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82D39"/>
                </a:solidFill>
                <a:latin typeface="Aptos"/>
              </a:defRPr>
            </a:pPr>
            <a:r>
              <a:t>What needs physical or design confirmation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62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16F"/>
                </a:solidFill>
                <a:latin typeface="Aptos"/>
              </a:defRPr>
            </a:pPr>
            <a:r>
              <a:t>The range is organised for visual review; generated imagery does not replace a production specification.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0"/>
            <a:ext cx="13624560" cy="13716"/>
          </a:xfrm>
          <a:prstGeom prst="rect">
            <a:avLst/>
          </a:prstGeom>
          <a:solidFill>
            <a:srgbClr val="D6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900416"/>
            <a:ext cx="1280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62716F"/>
                </a:solidFill>
                <a:latin typeface="Aptos"/>
              </a:defRPr>
            </a:pPr>
            <a:r>
              <a:t>FLAT KNIT RANGE  /  THREAD-CARD PALETTE  /  DESIGN VISUALISATIONS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821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62716F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B07854"/>
                </a:solidFill>
                <a:latin typeface="Aptos"/>
              </a:defRPr>
            </a:pPr>
            <a:r>
              <a:t>01 / BACK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9509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182D39"/>
                </a:solidFill>
                <a:latin typeface="Aptos"/>
              </a:defRPr>
            </a:pPr>
            <a:r>
              <a:t>All backs are inferred from front references. Confirm panel, stripe and texture continuation before sampling.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175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B07854"/>
                </a:solidFill>
                <a:latin typeface="Aptos"/>
              </a:defRPr>
            </a:pPr>
            <a:r>
              <a:t>02 / ST-11 GRAPHIC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017520"/>
            <a:ext cx="9509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182D39"/>
                </a:solidFill>
                <a:latin typeface="Aptos"/>
              </a:defRPr>
            </a:pPr>
            <a:r>
              <a:t>Full mesh photograph has no visible Athletic Club graphic. Original workbook graphic is the design source; photo mapping remains provisional.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148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B07854"/>
                </a:solidFill>
                <a:latin typeface="Aptos"/>
              </a:defRPr>
            </a:pPr>
            <a:r>
              <a:t>03 / YARN 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114800"/>
            <a:ext cx="9509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182D39"/>
                </a:solidFill>
                <a:latin typeface="Aptos"/>
              </a:defRPr>
            </a:pPr>
            <a:r>
              <a:t>Use physical skeins for final colour approval. TC01–TC13 are internal references, not supplier shade codes. Photo lighting and screen rendering affect appearance.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21207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B07854"/>
                </a:solidFill>
                <a:latin typeface="Aptos"/>
              </a:defRPr>
            </a:pPr>
            <a:r>
              <a:t>04 / CORRECTED DESCRIPTIONS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5212079"/>
            <a:ext cx="9509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182D39"/>
                </a:solidFill>
                <a:latin typeface="Aptos"/>
              </a:defRPr>
            </a:pPr>
            <a:r>
              <a:t>ST-19 is a raglan stripe crew tee; ST-15 includes a lower chocolate band. Further full-photo corrections are logged in the Excel catalogue.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093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B07854"/>
                </a:solidFill>
                <a:latin typeface="Aptos"/>
              </a:defRPr>
            </a:pPr>
            <a:r>
              <a:t>05 / CANVA HANDOFF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309360"/>
            <a:ext cx="9509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182D39"/>
                </a:solidFill>
                <a:latin typeface="Aptos"/>
              </a:defRPr>
            </a:pPr>
            <a:r>
              <a:t>Import this PPTX into Canva. Labels, text and swatches are editable. Garment visuals remain image assets. The supplied PDF is a stable review copy.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